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E-Commerce Digital Marketing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5A5A"/>
                </a:solidFill>
              </a:defRPr>
            </a:pPr>
            <a:r>
              <a:t>A practical analytics-led marketing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Campaign performance • Customer insights • Growth recommendations</a:t>
            </a:r>
          </a:p>
          <a:p>
            <a:pPr>
              <a:spcAft>
                <a:spcPts val="1500"/>
              </a:spcAft>
              <a:defRPr sz="2100"/>
            </a:pPr>
            <a:r>
              <a:t>Target role: Digital Marketing | Intermediate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Business Problem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Understand which digital channels and campaigns are most efficient.</a:t>
            </a:r>
          </a:p>
          <a:p>
            <a:pPr>
              <a:spcAft>
                <a:spcPts val="1500"/>
              </a:spcAft>
              <a:defRPr sz="2100"/>
            </a:pPr>
            <a:r>
              <a:t>Identify shopper preferences and barriers across the purchase journey.</a:t>
            </a:r>
          </a:p>
          <a:p>
            <a:pPr>
              <a:spcAft>
                <a:spcPts val="1500"/>
              </a:spcAft>
              <a:defRPr sz="2100"/>
            </a:pPr>
            <a:r>
              <a:t>Turn data into actionable acquisition, conversion and retention experiments.</a:t>
            </a:r>
          </a:p>
          <a:p>
            <a:pPr>
              <a:spcAft>
                <a:spcPts val="1500"/>
              </a:spcAft>
              <a:defRPr sz="2100"/>
            </a:pPr>
            <a:r>
              <a:t>Demonstrate Excel, SQL, Python, Google Forms and Power BI skills.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Data Used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90 days of synthetic daily campaign performance across 4 channels and 12 campaigns.</a:t>
            </a:r>
          </a:p>
          <a:p>
            <a:pPr>
              <a:spcAft>
                <a:spcPts val="1500"/>
              </a:spcAft>
              <a:defRPr sz="2100"/>
            </a:pPr>
            <a:r>
              <a:t>3,200 synthetic order records and 1,800 customer profiles.</a:t>
            </a:r>
          </a:p>
          <a:p>
            <a:pPr>
              <a:spcAft>
                <a:spcPts val="1500"/>
              </a:spcAft>
              <a:defRPr sz="2100"/>
            </a:pPr>
            <a:r>
              <a:t>120 synthetic survey responses for demonstration; replace with genuine voluntary responses.</a:t>
            </a:r>
          </a:p>
          <a:p>
            <a:pPr>
              <a:spcAft>
                <a:spcPts val="1500"/>
              </a:spcAft>
              <a:defRPr sz="2100"/>
            </a:pPr>
            <a:r>
              <a:t>Campaign-attributed revenue and order-level sales are separate datasets; analyze separately.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Marketing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CTR = Clicks ÷ Impressions | CPC = Spend ÷ Clicks</a:t>
            </a:r>
          </a:p>
          <a:p>
            <a:pPr>
              <a:spcAft>
                <a:spcPts val="1500"/>
              </a:spcAft>
              <a:defRPr sz="2100"/>
            </a:pPr>
            <a:r>
              <a:t>Conversion Rate = Orders ÷ Sessions | CPA = Spend ÷ Campaign Orders</a:t>
            </a:r>
          </a:p>
          <a:p>
            <a:pPr>
              <a:spcAft>
                <a:spcPts val="1500"/>
              </a:spcAft>
              <a:defRPr sz="2100"/>
            </a:pPr>
            <a:r>
              <a:t>ROAS = Attributed Campaign Revenue ÷ Ad Spend</a:t>
            </a:r>
          </a:p>
          <a:p>
            <a:pPr>
              <a:spcAft>
                <a:spcPts val="1500"/>
              </a:spcAft>
              <a:defRPr sz="2100"/>
            </a:pPr>
            <a:r>
              <a:t>AOV = Delivered Net Revenue ÷ Delivered Orders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Channel Performance: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Blended synthetic campaign ROAS: 56.6x.</a:t>
            </a:r>
          </a:p>
          <a:p>
            <a:pPr>
              <a:spcAft>
                <a:spcPts val="1500"/>
              </a:spcAft>
              <a:defRPr sz="2100"/>
            </a:pPr>
            <a:r>
              <a:t>Overall synthetic CTR: 2.77%.</a:t>
            </a:r>
          </a:p>
          <a:p>
            <a:pPr>
              <a:spcAft>
                <a:spcPts val="1500"/>
              </a:spcAft>
              <a:defRPr sz="2100"/>
            </a:pPr>
            <a:r>
              <a:t>Highest channel ROAS in this generated sample: Email (263.0x).</a:t>
            </a:r>
          </a:p>
          <a:p>
            <a:pPr>
              <a:spcAft>
                <a:spcPts val="1500"/>
              </a:spcAft>
              <a:defRPr sz="2100"/>
            </a:pPr>
            <a:r>
              <a:t>Highest channel CTR in this generated sample: Email (4.99%).</a:t>
            </a:r>
          </a:p>
          <a:p>
            <a:pPr>
              <a:spcAft>
                <a:spcPts val="1500"/>
              </a:spcAft>
              <a:defRPr sz="2100"/>
            </a:pPr>
            <a:r>
              <a:t>These figures are simulated and should not be presented as real market performance.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Customer &amp; Order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Delivered order revenue leader in the synthetic order file: Google Ads.</a:t>
            </a:r>
          </a:p>
          <a:p>
            <a:pPr>
              <a:spcAft>
                <a:spcPts val="1500"/>
              </a:spcAft>
              <a:defRPr sz="2100"/>
            </a:pPr>
            <a:r>
              <a:t>Highest delivered revenue category in the sample: Fashion.</a:t>
            </a:r>
          </a:p>
          <a:p>
            <a:pPr>
              <a:spcAft>
                <a:spcPts val="1500"/>
              </a:spcAft>
              <a:defRPr sz="2100"/>
            </a:pPr>
            <a:r>
              <a:t>Review category, device, region, order status and AOV in the Excel workbook / Power BI report.</a:t>
            </a:r>
          </a:p>
          <a:p>
            <a:pPr>
              <a:spcAft>
                <a:spcPts val="1500"/>
              </a:spcAft>
              <a:defRPr sz="2100"/>
            </a:pPr>
            <a:r>
              <a:t>Do not combine order revenue with campaign-attributed revenue.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Customer Voice: Survey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Most common discovery source in simulated responses: Instagram.</a:t>
            </a:r>
          </a:p>
          <a:p>
            <a:pPr>
              <a:spcAft>
                <a:spcPts val="1500"/>
              </a:spcAft>
              <a:defRPr sz="2100"/>
            </a:pPr>
            <a:r>
              <a:t>Most common cart-abandonment reason in simulated responses: High delivery fee.</a:t>
            </a:r>
          </a:p>
          <a:p>
            <a:pPr>
              <a:spcAft>
                <a:spcPts val="1500"/>
              </a:spcAft>
              <a:defRPr sz="2100"/>
            </a:pPr>
            <a:r>
              <a:t>Most selected promotion in simulated responses: Percentage discount.</a:t>
            </a:r>
          </a:p>
          <a:p>
            <a:pPr>
              <a:spcAft>
                <a:spcPts val="1500"/>
              </a:spcAft>
              <a:defRPr sz="2100"/>
            </a:pPr>
            <a:r>
              <a:t>Collect 50-100 real anonymous responses before making customer claims.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Recommended Marketing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A/B test creative messages and landing-page calls to action.</a:t>
            </a:r>
          </a:p>
          <a:p>
            <a:pPr>
              <a:spcAft>
                <a:spcPts val="1500"/>
              </a:spcAft>
              <a:defRPr sz="2100"/>
            </a:pPr>
            <a:r>
              <a:t>Test a transparent free-delivery threshold against current delivery-fee messaging.</a:t>
            </a:r>
          </a:p>
          <a:p>
            <a:pPr>
              <a:spcAft>
                <a:spcPts val="1500"/>
              </a:spcAft>
              <a:defRPr sz="2100"/>
            </a:pPr>
            <a:r>
              <a:t>Build cart-abandonment and post-purchase email journeys.</a:t>
            </a:r>
          </a:p>
          <a:p>
            <a:pPr>
              <a:spcAft>
                <a:spcPts val="1500"/>
              </a:spcAft>
              <a:defRPr sz="2100"/>
            </a:pPr>
            <a:r>
              <a:t>Test review-led / creator-led product creatives.</a:t>
            </a:r>
          </a:p>
          <a:p>
            <a:pPr>
              <a:spcAft>
                <a:spcPts val="1500"/>
              </a:spcAft>
              <a:defRPr sz="2100"/>
            </a:pPr>
            <a:r>
              <a:t>Measure incremental conversion, CPA, contribution margin and repeat purchase.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Tools &amp; Portfolio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Excel: raw data, channel analysis, KPI summary and chart.</a:t>
            </a:r>
          </a:p>
          <a:p>
            <a:pPr>
              <a:spcAft>
                <a:spcPts val="1500"/>
              </a:spcAft>
              <a:defRPr sz="2100"/>
            </a:pPr>
            <a:r>
              <a:t>SQL: channel, monthly, category, device, retention and RFM queries.</a:t>
            </a:r>
          </a:p>
          <a:p>
            <a:pPr>
              <a:spcAft>
                <a:spcPts val="1500"/>
              </a:spcAft>
              <a:defRPr sz="2100"/>
            </a:pPr>
            <a:r>
              <a:t>Python: reproducible analysis and chart generation.</a:t>
            </a:r>
          </a:p>
          <a:p>
            <a:pPr>
              <a:spcAft>
                <a:spcPts val="1500"/>
              </a:spcAft>
              <a:defRPr sz="2100"/>
            </a:pPr>
            <a:r>
              <a:t>Google Forms: questionnaire guide for primary research.</a:t>
            </a:r>
          </a:p>
          <a:p>
            <a:pPr>
              <a:spcAft>
                <a:spcPts val="1500"/>
              </a:spcAft>
              <a:defRPr sz="2100"/>
            </a:pPr>
            <a:r>
              <a:t>Power BI: four-page dashboard build guide.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Conclusion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/>
            </a:pPr>
            <a:r>
              <a:t>A structured digital marketing workflow links acquisition data, order behavior and customer feedback.</a:t>
            </a:r>
          </a:p>
          <a:p>
            <a:pPr>
              <a:spcAft>
                <a:spcPts val="1500"/>
              </a:spcAft>
              <a:defRPr sz="2100"/>
            </a:pPr>
            <a:r>
              <a:t>Recommendations should be validated through controlled experiments.</a:t>
            </a:r>
          </a:p>
          <a:p>
            <a:pPr>
              <a:spcAft>
                <a:spcPts val="1500"/>
              </a:spcAft>
              <a:defRPr sz="2100"/>
            </a:pPr>
            <a:r>
              <a:t>Current datasets are synthetic; no real retailer performance or customer survey is represented.</a:t>
            </a:r>
          </a:p>
          <a:p>
            <a:pPr>
              <a:spcAft>
                <a:spcPts val="1500"/>
              </a:spcAft>
              <a:defRPr sz="2100"/>
            </a:pPr>
            <a:r>
              <a:t>Next step: replace demo survey data, publish dashboard screenshots and document experiment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